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README.md</a:t>
            </a:r>
          </a:p>
          <a:p>
            <a:r>
              <a:t>- projects/com.saab.map-streamer/ARCHITECTURE.md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README.md</a:t>
            </a:r>
          </a:p>
          <a:p>
            <a:r>
              <a:t>- projects/com.saab.map-streamer/ARCHITECTURE.md</a:t>
            </a:r>
          </a:p>
          <a:p>
            <a:r>
              <a:t>- com.saab.map-streamer/Runtime/StreamingCore/StreamingPipeline.cs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com.saab.map-streamer/Runtime/MapStreamer/Nodes/Pooling/NodeHandlePool.cs</a:t>
            </a:r>
          </a:p>
          <a:p>
            <a:r>
              <a:t>- com.saab.map-streamer/Runtime/MapStreamer/Building/Coordination/NodeBuildCoordinator.cs</a:t>
            </a:r>
          </a:p>
          <a:p>
            <a:r>
              <a:t>- com.saab.map-streamer/Runtime/StreamingCore/DynamicLoadCoordinator.cs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README.md</a:t>
            </a:r>
          </a:p>
          <a:p>
            <a:r>
              <a:t>- Download_Offline_Map.bat</a:t>
            </a:r>
          </a:p>
          <a:p>
            <a:r>
              <a:t>- projects/com.saab.map-streamer/Packages/manifest.json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projects/com.saab.map-streamer/ARCHITECTURE.md</a:t>
            </a:r>
          </a:p>
          <a:p>
            <a:r>
              <a:t>- Presentation/map-streaming-runtime-flow.png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projects/com.saab.map-streamer/ARCHITECTURE.md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3-1">
            <a:extLst>
              <a:ext uri="{FF2B5EF4-FFF2-40B4-BE49-F238E27FC236}">
                <a16:creationId xmlns:a16="http://schemas.microsoft.com/office/drawing/2014/main" id="{D180CD9A-9A12-49F0-ADED-F008F6B83E93}"/>
              </a:ext>
            </a:extLst>
          </p:cNvPr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10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Problems faced
and how we rebuilt it</a:t>
            </a:r>
          </a:p>
        </p:txBody>
      </p:sp>
      <p:sp>
        <p:nvSpPr>
          <p:cNvPr id="2" name="Subtitle-4-2">
            <a:extLst>
              <a:ext uri="{FF2B5EF4-FFF2-40B4-BE49-F238E27FC236}">
                <a16:creationId xmlns:a16="http://schemas.microsoft.com/office/drawing/2014/main" id="{940AE604-FEB5-4D5E-9BB8-6C28AEA98F61}"/>
              </a:ext>
            </a:extLst>
          </p:cNvPr>
          <p:cNvSpPr>
            <a:spLocks noGrp="1"/>
          </p:cNvSpPr>
          <p:nvPr/>
        </p:nvSpPr>
        <p:spPr>
          <a:xfrm>
            <a:off x="393668" y="4742212"/>
            <a:ext cx="57023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short retrospective on replicating </a:t>
            </a:r>
            <a:r>
              <a:rPr lang="en-IN" sz="18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map-streamer</a:t>
            </a:r>
            <a:r>
              <a:rPr sz="18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behavior and turning it into a reliable architecture.</a:t>
            </a:r>
          </a:p>
        </p:txBody>
      </p:sp>
      <p:sp>
        <p:nvSpPr>
          <p:cNvPr id="3" name="Subtitle-4-3">
            <a:extLst>
              <a:ext uri="{FF2B5EF4-FFF2-40B4-BE49-F238E27FC236}">
                <a16:creationId xmlns:a16="http://schemas.microsoft.com/office/drawing/2014/main" id="{36F472F5-62DC-4E91-A393-A96C13F022FD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5702332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STREAMING MAP DEMO</a:t>
            </a:r>
          </a:p>
        </p:txBody>
      </p:sp>
    </p:spTree>
    <p:extLst>
      <p:ext uri="{BB962C8B-B14F-4D97-AF65-F5344CB8AC3E}">
        <p14:creationId xmlns:p14="http://schemas.microsoft.com/office/powerpoint/2010/main" val="1053163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-Shape-532-p58-2">
            <a:extLst>
              <a:ext uri="{FF2B5EF4-FFF2-40B4-BE49-F238E27FC236}">
                <a16:creationId xmlns:a16="http://schemas.microsoft.com/office/drawing/2014/main" id="{FB0528F5-25DA-4BB5-B5CF-0A87AEC4927E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94BCB1F1-94DC-46EE-84E6-CDD301BAA219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obstacles blocked a reliable starting point</a:t>
            </a:r>
          </a:p>
        </p:txBody>
      </p:sp>
      <p:sp>
        <p:nvSpPr>
          <p:cNvPr id="3" name="Google-Shape-558-p61-4">
            <a:extLst>
              <a:ext uri="{FF2B5EF4-FFF2-40B4-BE49-F238E27FC236}">
                <a16:creationId xmlns:a16="http://schemas.microsoft.com/office/drawing/2014/main" id="{5D8679E3-7C7A-4F0F-9097-27463178A600}"/>
              </a:ext>
            </a:extLst>
          </p:cNvPr>
          <p:cNvSpPr>
            <a:spLocks noGrp="1"/>
          </p:cNvSpPr>
          <p:nvPr/>
        </p:nvSpPr>
        <p:spPr>
          <a:xfrm>
            <a:off x="393668" y="401316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REMOTE MAP
The native HTTP loader was opaque and the distant CDN made runtime loading unreliable.</a:t>
            </a:r>
          </a:p>
        </p:txBody>
      </p:sp>
      <p:sp>
        <p:nvSpPr>
          <p:cNvPr id="4" name="Google-Shape-559-p61-5">
            <a:extLst>
              <a:ext uri="{FF2B5EF4-FFF2-40B4-BE49-F238E27FC236}">
                <a16:creationId xmlns:a16="http://schemas.microsoft.com/office/drawing/2014/main" id="{CA180D43-D2C9-4426-A0B7-D99B7FB31BC1}"/>
              </a:ext>
            </a:extLst>
          </p:cNvPr>
          <p:cNvSpPr>
            <a:spLocks noGrp="1"/>
          </p:cNvSpPr>
          <p:nvPr/>
        </p:nvSpPr>
        <p:spPr>
          <a:xfrm>
            <a:off x="4317968" y="401316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TIGHT COUPLING
Map loading, traversal, building, rendering and shutdown lived in monolithic classes.</a:t>
            </a:r>
          </a:p>
        </p:txBody>
      </p:sp>
      <p:sp>
        <p:nvSpPr>
          <p:cNvPr id="5" name="Google-Shape-560-p61-6">
            <a:extLst>
              <a:ext uri="{FF2B5EF4-FFF2-40B4-BE49-F238E27FC236}">
                <a16:creationId xmlns:a16="http://schemas.microsoft.com/office/drawing/2014/main" id="{1B895E01-9954-49D6-B3C1-2CCB444B5B1D}"/>
              </a:ext>
            </a:extLst>
          </p:cNvPr>
          <p:cNvSpPr>
            <a:spLocks noGrp="1"/>
          </p:cNvSpPr>
          <p:nvPr/>
        </p:nvSpPr>
        <p:spPr>
          <a:xfrm>
            <a:off x="8232267" y="401316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RISKY LOCKING
Manual edit/render transitions could leave streaming locked after an error.</a:t>
            </a:r>
          </a:p>
        </p:txBody>
      </p:sp>
      <p:sp>
        <p:nvSpPr>
          <p:cNvPr id="6" name="Google-Shape-561-p61-7">
            <a:extLst>
              <a:ext uri="{FF2B5EF4-FFF2-40B4-BE49-F238E27FC236}">
                <a16:creationId xmlns:a16="http://schemas.microsoft.com/office/drawing/2014/main" id="{8464FF01-1000-46D8-B386-E079D8AEDB84}"/>
              </a:ext>
            </a:extLst>
          </p:cNvPr>
          <p:cNvSpPr>
            <a:spLocks noGrp="1"/>
          </p:cNvSpPr>
          <p:nvPr/>
        </p:nvSpPr>
        <p:spPr>
          <a:xfrm>
            <a:off x="4279868" y="3382328"/>
            <a:ext cx="315563" cy="353854"/>
          </a:xfrm>
          <a:custGeom>
            <a:avLst/>
            <a:gdLst/>
            <a:ahLst/>
            <a:cxnLst/>
            <a:rect l="0" t="0" r="0" b="0"/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7" name="Google-Shape-562-p61-8">
            <a:extLst>
              <a:ext uri="{FF2B5EF4-FFF2-40B4-BE49-F238E27FC236}">
                <a16:creationId xmlns:a16="http://schemas.microsoft.com/office/drawing/2014/main" id="{F7312B83-7B09-4ABC-95BC-48424801B51A}"/>
              </a:ext>
            </a:extLst>
          </p:cNvPr>
          <p:cNvSpPr>
            <a:spLocks noGrp="1"/>
          </p:cNvSpPr>
          <p:nvPr/>
        </p:nvSpPr>
        <p:spPr>
          <a:xfrm>
            <a:off x="401384" y="3378232"/>
            <a:ext cx="327089" cy="362045"/>
          </a:xfrm>
          <a:custGeom>
            <a:avLst/>
            <a:gdLst/>
            <a:ahLst/>
            <a:cxnLst/>
            <a:rect l="0" t="0" r="0" b="0"/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8" name="Google-Shape-563-p61-9">
            <a:extLst>
              <a:ext uri="{FF2B5EF4-FFF2-40B4-BE49-F238E27FC236}">
                <a16:creationId xmlns:a16="http://schemas.microsoft.com/office/drawing/2014/main" id="{E099B334-90EF-4A22-AC55-2316B9B2E087}"/>
              </a:ext>
            </a:extLst>
          </p:cNvPr>
          <p:cNvSpPr>
            <a:spLocks noGrp="1"/>
          </p:cNvSpPr>
          <p:nvPr/>
        </p:nvSpPr>
        <p:spPr>
          <a:xfrm>
            <a:off x="8231600" y="3406807"/>
            <a:ext cx="338614" cy="270891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071496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-Shape-532-p58-2">
            <a:extLst>
              <a:ext uri="{FF2B5EF4-FFF2-40B4-BE49-F238E27FC236}">
                <a16:creationId xmlns:a16="http://schemas.microsoft.com/office/drawing/2014/main" id="{6D07E2EA-1FEA-40DC-9861-D7726F367C97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E6A87AE1-0171-4636-A126-6BCA6167256C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Streaming also needed safe reuse and bounded work</a:t>
            </a:r>
          </a:p>
        </p:txBody>
      </p:sp>
      <p:sp>
        <p:nvSpPr>
          <p:cNvPr id="3" name="Google-Shape-558-p61-4">
            <a:extLst>
              <a:ext uri="{FF2B5EF4-FFF2-40B4-BE49-F238E27FC236}">
                <a16:creationId xmlns:a16="http://schemas.microsoft.com/office/drawing/2014/main" id="{A24D7F58-536D-4A12-B29B-BA999D4E8A20}"/>
              </a:ext>
            </a:extLst>
          </p:cNvPr>
          <p:cNvSpPr>
            <a:spLocks noGrp="1"/>
          </p:cNvSpPr>
          <p:nvPr/>
        </p:nvSpPr>
        <p:spPr>
          <a:xfrm>
            <a:off x="393668" y="401316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STALE REUSE
Queued work could reach a pooled </a:t>
            </a:r>
            <a:r>
              <a:rPr sz="20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GameObject</a:t>
            </a:r>
            <a:r>
              <a:rPr sz="2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after it had been reassigned.</a:t>
            </a:r>
          </a:p>
        </p:txBody>
      </p:sp>
      <p:sp>
        <p:nvSpPr>
          <p:cNvPr id="4" name="Google-Shape-559-p61-5">
            <a:extLst>
              <a:ext uri="{FF2B5EF4-FFF2-40B4-BE49-F238E27FC236}">
                <a16:creationId xmlns:a16="http://schemas.microsoft.com/office/drawing/2014/main" id="{DB8AC514-CB4D-4A9D-9546-176477A828B5}"/>
              </a:ext>
            </a:extLst>
          </p:cNvPr>
          <p:cNvSpPr>
            <a:spLocks noGrp="1"/>
          </p:cNvSpPr>
          <p:nvPr/>
        </p:nvSpPr>
        <p:spPr>
          <a:xfrm>
            <a:off x="4317968" y="401316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FRAME SPIKES
Terrain, meshes and assets could not all be constructed in one frame.</a:t>
            </a:r>
          </a:p>
        </p:txBody>
      </p:sp>
      <p:sp>
        <p:nvSpPr>
          <p:cNvPr id="5" name="Google-Shape-560-p61-6">
            <a:extLst>
              <a:ext uri="{FF2B5EF4-FFF2-40B4-BE49-F238E27FC236}">
                <a16:creationId xmlns:a16="http://schemas.microsoft.com/office/drawing/2014/main" id="{409EBB49-5CD7-4FB3-9D0F-DAF25A8F6B43}"/>
              </a:ext>
            </a:extLst>
          </p:cNvPr>
          <p:cNvSpPr>
            <a:spLocks noGrp="1"/>
          </p:cNvSpPr>
          <p:nvPr/>
        </p:nvSpPr>
        <p:spPr>
          <a:xfrm>
            <a:off x="8232267" y="4013168"/>
            <a:ext cx="3568732" cy="1981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CALLBACK CHURN
Rapid load, unload and visibility events could replay obsolete state.</a:t>
            </a:r>
          </a:p>
        </p:txBody>
      </p:sp>
      <p:sp>
        <p:nvSpPr>
          <p:cNvPr id="6" name="Google-Shape-561-p61-7">
            <a:extLst>
              <a:ext uri="{FF2B5EF4-FFF2-40B4-BE49-F238E27FC236}">
                <a16:creationId xmlns:a16="http://schemas.microsoft.com/office/drawing/2014/main" id="{2885881A-39CC-42FD-A655-A1F62835AEC4}"/>
              </a:ext>
            </a:extLst>
          </p:cNvPr>
          <p:cNvSpPr>
            <a:spLocks noGrp="1"/>
          </p:cNvSpPr>
          <p:nvPr/>
        </p:nvSpPr>
        <p:spPr>
          <a:xfrm>
            <a:off x="4279868" y="3382328"/>
            <a:ext cx="315563" cy="353854"/>
          </a:xfrm>
          <a:custGeom>
            <a:avLst/>
            <a:gdLst/>
            <a:ahLst/>
            <a:cxnLst/>
            <a:rect l="0" t="0" r="0" b="0"/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7" name="Google-Shape-562-p61-8">
            <a:extLst>
              <a:ext uri="{FF2B5EF4-FFF2-40B4-BE49-F238E27FC236}">
                <a16:creationId xmlns:a16="http://schemas.microsoft.com/office/drawing/2014/main" id="{BF09AF30-86A7-4DC0-BDA5-F99D29CC2040}"/>
              </a:ext>
            </a:extLst>
          </p:cNvPr>
          <p:cNvSpPr>
            <a:spLocks noGrp="1"/>
          </p:cNvSpPr>
          <p:nvPr/>
        </p:nvSpPr>
        <p:spPr>
          <a:xfrm>
            <a:off x="401384" y="3378232"/>
            <a:ext cx="327089" cy="362045"/>
          </a:xfrm>
          <a:custGeom>
            <a:avLst/>
            <a:gdLst/>
            <a:ahLst/>
            <a:cxnLst/>
            <a:rect l="0" t="0" r="0" b="0"/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8" name="Google-Shape-563-p61-9">
            <a:extLst>
              <a:ext uri="{FF2B5EF4-FFF2-40B4-BE49-F238E27FC236}">
                <a16:creationId xmlns:a16="http://schemas.microsoft.com/office/drawing/2014/main" id="{E79C65D9-E5CB-46C2-BF95-EF2C05CDF5A7}"/>
              </a:ext>
            </a:extLst>
          </p:cNvPr>
          <p:cNvSpPr>
            <a:spLocks noGrp="1"/>
          </p:cNvSpPr>
          <p:nvPr/>
        </p:nvSpPr>
        <p:spPr>
          <a:xfrm>
            <a:off x="8231600" y="3406807"/>
            <a:ext cx="338614" cy="270891"/>
          </a:xfrm>
          <a:custGeom>
            <a:avLst/>
            <a:gdLst/>
            <a:ahLst/>
            <a:cxnLst/>
            <a:rect l="0" t="0" r="0" b="0"/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451799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Number-Placeholder-3-2">
            <a:extLst>
              <a:ext uri="{FF2B5EF4-FFF2-40B4-BE49-F238E27FC236}">
                <a16:creationId xmlns:a16="http://schemas.microsoft.com/office/drawing/2014/main" id="{C6D62B73-BDF0-4D3B-BDFC-FA4DC9163296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>
              <a:ext uri="{FF2B5EF4-FFF2-40B4-BE49-F238E27FC236}">
                <a16:creationId xmlns:a16="http://schemas.microsoft.com/office/drawing/2014/main" id="{DB785235-A9F8-47B4-9070-62067E0213A0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 replicated and rebuilt upstream in three phases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>
            <a:off x="337757" y="3373755"/>
            <a:ext cx="12245435" cy="286"/>
          </a:xfrm>
          <a:prstGeom prst="straightConnector1">
            <a:avLst/>
          </a:prstGeom>
          <a:ln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>
              <a:ext uri="{FF2B5EF4-FFF2-40B4-BE49-F238E27FC236}">
                <a16:creationId xmlns:a16="http://schemas.microsoft.com/office/drawing/2014/main" id="{5BE2AFE4-1DCB-4263-92E1-43A5033E4145}"/>
              </a:ext>
            </a:extLst>
          </p:cNvPr>
          <p:cNvSpPr>
            <a:spLocks noGrp="1"/>
          </p:cNvSpPr>
          <p:nvPr/>
        </p:nvSpPr>
        <p:spPr>
          <a:xfrm>
            <a:off x="337757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5" name="Google-Shape-2261-p159-6">
            <a:extLst>
              <a:ext uri="{FF2B5EF4-FFF2-40B4-BE49-F238E27FC236}">
                <a16:creationId xmlns:a16="http://schemas.microsoft.com/office/drawing/2014/main" id="{8A709E83-9BA6-4BC4-BB73-31400064F6DA}"/>
              </a:ext>
            </a:extLst>
          </p:cNvPr>
          <p:cNvSpPr>
            <a:spLocks noGrp="1"/>
          </p:cNvSpPr>
          <p:nvPr/>
        </p:nvSpPr>
        <p:spPr>
          <a:xfrm>
            <a:off x="42517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6" name="Google-Shape-2262-p159-7">
            <a:extLst>
              <a:ext uri="{FF2B5EF4-FFF2-40B4-BE49-F238E27FC236}">
                <a16:creationId xmlns:a16="http://schemas.microsoft.com/office/drawing/2014/main" id="{187A8B53-268E-4EE7-A012-4ABED23A9CED}"/>
              </a:ext>
            </a:extLst>
          </p:cNvPr>
          <p:cNvSpPr>
            <a:spLocks noGrp="1"/>
          </p:cNvSpPr>
          <p:nvPr/>
        </p:nvSpPr>
        <p:spPr>
          <a:xfrm>
            <a:off x="8176070" y="3320225"/>
            <a:ext cx="107061" cy="107061"/>
          </a:xfrm>
          <a:prstGeom prst="ellipse">
            <a:avLst/>
          </a:prstGeom>
          <a:solidFill>
            <a:srgbClr val="000000"/>
          </a:solidFill>
        </p:spPr>
      </p:sp>
      <p:sp>
        <p:nvSpPr>
          <p:cNvPr id="7" name="Content-Placeholder-15-8">
            <a:extLst>
              <a:ext uri="{FF2B5EF4-FFF2-40B4-BE49-F238E27FC236}">
                <a16:creationId xmlns:a16="http://schemas.microsoft.com/office/drawing/2014/main" id="{E2BC964B-02BE-4A54-A5E8-41992768137B}"/>
              </a:ext>
            </a:extLst>
          </p:cNvPr>
          <p:cNvSpPr>
            <a:spLocks noGrp="1"/>
          </p:cNvSpPr>
          <p:nvPr/>
        </p:nvSpPr>
        <p:spPr>
          <a:xfrm>
            <a:off x="39366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PHASE 1</a:t>
            </a:r>
          </a:p>
        </p:txBody>
      </p:sp>
      <p:sp>
        <p:nvSpPr>
          <p:cNvPr id="8" name="Content-Placeholder-15-9">
            <a:extLst>
              <a:ext uri="{FF2B5EF4-FFF2-40B4-BE49-F238E27FC236}">
                <a16:creationId xmlns:a16="http://schemas.microsoft.com/office/drawing/2014/main" id="{CFD0319F-6F16-4C87-9127-A01AC61B9503}"/>
              </a:ext>
            </a:extLst>
          </p:cNvPr>
          <p:cNvSpPr>
            <a:spLocks noGrp="1"/>
          </p:cNvSpPr>
          <p:nvPr/>
        </p:nvSpPr>
        <p:spPr>
          <a:xfrm>
            <a:off x="4294156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PHASE 2</a:t>
            </a:r>
          </a:p>
        </p:txBody>
      </p:sp>
      <p:sp>
        <p:nvSpPr>
          <p:cNvPr id="9" name="Content-Placeholder-15-10">
            <a:extLst>
              <a:ext uri="{FF2B5EF4-FFF2-40B4-BE49-F238E27FC236}">
                <a16:creationId xmlns:a16="http://schemas.microsoft.com/office/drawing/2014/main" id="{A5B2239C-B423-42D0-8DC8-4675F7D0EA47}"/>
              </a:ext>
            </a:extLst>
          </p:cNvPr>
          <p:cNvSpPr>
            <a:spLocks noGrp="1"/>
          </p:cNvSpPr>
          <p:nvPr/>
        </p:nvSpPr>
        <p:spPr>
          <a:xfrm>
            <a:off x="8223218" y="2843308"/>
            <a:ext cx="1612868" cy="26241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PHASE 3</a:t>
            </a:r>
          </a:p>
        </p:txBody>
      </p:sp>
      <p:sp>
        <p:nvSpPr>
          <p:cNvPr id="10" name="Text-Placeholder-16-11">
            <a:extLst>
              <a:ext uri="{FF2B5EF4-FFF2-40B4-BE49-F238E27FC236}">
                <a16:creationId xmlns:a16="http://schemas.microsoft.com/office/drawing/2014/main" id="{2D59118A-99FF-4208-8F81-9A943FF28AE8}"/>
              </a:ext>
            </a:extLst>
          </p:cNvPr>
          <p:cNvSpPr>
            <a:spLocks noGrp="1"/>
          </p:cNvSpPr>
          <p:nvPr/>
        </p:nvSpPr>
        <p:spPr>
          <a:xfrm>
            <a:off x="4317111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Rebuild map delivery</a:t>
            </a:r>
          </a:p>
          <a:p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Download the complete tree, decode its URLs, deserialize and reserialize nodes for local paths, then package the result on GitHub.</a:t>
            </a:r>
          </a:p>
        </p:txBody>
      </p:sp>
      <p:sp>
        <p:nvSpPr>
          <p:cNvPr id="11" name="Text-Placeholder-16-12">
            <a:extLst>
              <a:ext uri="{FF2B5EF4-FFF2-40B4-BE49-F238E27FC236}">
                <a16:creationId xmlns:a16="http://schemas.microsoft.com/office/drawing/2014/main" id="{8288B5EC-E704-4144-99BC-EED9424FA800}"/>
              </a:ext>
            </a:extLst>
          </p:cNvPr>
          <p:cNvSpPr>
            <a:spLocks noGrp="1"/>
          </p:cNvSpPr>
          <p:nvPr/>
        </p:nvSpPr>
        <p:spPr>
          <a:xfrm>
            <a:off x="39985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Establish the baseline</a:t>
            </a:r>
          </a:p>
          <a:p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upstream unchanged, reproduce the remote-map failure, and trace the monolithic runtime from scene startup to rendering.</a:t>
            </a:r>
          </a:p>
        </p:txBody>
      </p:sp>
      <p:sp>
        <p:nvSpPr>
          <p:cNvPr id="12" name="Text-Placeholder-16-13">
            <a:extLst>
              <a:ext uri="{FF2B5EF4-FFF2-40B4-BE49-F238E27FC236}">
                <a16:creationId xmlns:a16="http://schemas.microsoft.com/office/drawing/2014/main" id="{F2B46D84-7D57-47D1-8637-73BC0DBA0BF1}"/>
              </a:ext>
            </a:extLst>
          </p:cNvPr>
          <p:cNvSpPr>
            <a:spLocks noGrp="1"/>
          </p:cNvSpPr>
          <p:nvPr/>
        </p:nvSpPr>
        <p:spPr>
          <a:xfrm>
            <a:off x="8177879" y="3822668"/>
            <a:ext cx="3156109" cy="158629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Refactor and harden</a:t>
            </a:r>
          </a:p>
          <a:p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 services, add dependency injection, formalize locking, version pooled objects, budget builds, and verify the new boundaries with tests.</a:t>
            </a:r>
          </a:p>
        </p:txBody>
      </p:sp>
    </p:spTree>
    <p:extLst>
      <p:ext uri="{BB962C8B-B14F-4D97-AF65-F5344CB8AC3E}">
        <p14:creationId xmlns:p14="http://schemas.microsoft.com/office/powerpoint/2010/main" val="2069789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-Shape-532-p58-2">
            <a:extLst>
              <a:ext uri="{FF2B5EF4-FFF2-40B4-BE49-F238E27FC236}">
                <a16:creationId xmlns:a16="http://schemas.microsoft.com/office/drawing/2014/main" id="{869FA66E-078B-47AE-AD93-B0526D18FC84}"/>
              </a:ext>
            </a:extLst>
          </p:cNvPr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/>
          <a:p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>
              <a:ext uri="{FF2B5EF4-FFF2-40B4-BE49-F238E27FC236}">
                <a16:creationId xmlns:a16="http://schemas.microsoft.com/office/drawing/2014/main" id="{5AB35A3C-E36F-47A3-84C8-756AD923F6F8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controlled streaming pipeline</a:t>
            </a:r>
          </a:p>
        </p:txBody>
      </p:sp>
      <p:sp>
        <p:nvSpPr>
          <p:cNvPr id="3" name="Picture-3-4-backing">
            <a:extLst>
              <a:ext uri="{FF2B5EF4-FFF2-40B4-BE49-F238E27FC236}">
                <a16:creationId xmlns:a16="http://schemas.microsoft.com/office/drawing/2014/main" id="{F6CF96CF-DC93-4033-A26C-DB2073790D95}"/>
              </a:ext>
            </a:extLst>
          </p:cNvPr>
          <p:cNvSpPr>
            <a:spLocks noGrp="1"/>
          </p:cNvSpPr>
          <p:nvPr/>
        </p:nvSpPr>
        <p:spPr>
          <a:xfrm>
            <a:off x="6269069" y="396431"/>
            <a:ext cx="5539740" cy="5602034"/>
          </a:xfrm>
          <a:prstGeom prst="roundRect">
            <a:avLst>
              <a:gd name="adj" fmla="val 1376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>
              <a:ext uri="{FF2B5EF4-FFF2-40B4-BE49-F238E27FC236}">
                <a16:creationId xmlns:a16="http://schemas.microsoft.com/office/drawing/2014/main" id="{E223ED6B-2D16-45D3-9CE2-565259CB853B}"/>
              </a:ext>
            </a:extLst>
          </p:cNvPr>
          <p:cNvSpPr>
            <a:spLocks noGrp="1"/>
          </p:cNvSpPr>
          <p:nvPr/>
        </p:nvSpPr>
        <p:spPr>
          <a:xfrm>
            <a:off x="393668" y="2031968"/>
            <a:ext cx="5537168" cy="3962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changed</a:t>
            </a:r>
          </a:p>
          <a:p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Offline delivery removed the runtime network dependency. Dependency injection exposed ownership. A lock state machine protected recovery. Versioned pooling rejected stale work. Budgeted queues kept construction responsive.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21171" y="396431"/>
            <a:ext cx="5035536" cy="560203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510389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3-1">
            <a:extLst>
              <a:ext uri="{FF2B5EF4-FFF2-40B4-BE49-F238E27FC236}">
                <a16:creationId xmlns:a16="http://schemas.microsoft.com/office/drawing/2014/main" id="{C7E9E443-3C8D-4E9F-B24C-3B9ED3F3385B}"/>
              </a:ext>
            </a:extLst>
          </p:cNvPr>
          <p:cNvSpPr>
            <a:spLocks noGrp="1"/>
          </p:cNvSpPr>
          <p:nvPr/>
        </p:nvSpPr>
        <p:spPr>
          <a:xfrm>
            <a:off x="393668" y="1738789"/>
            <a:ext cx="9448800" cy="249145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l">
              <a:lnSpc>
                <a:spcPct val="10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project became
</a:t>
            </a:r>
            <a:r>
              <a:rPr lang="en-IN" sz="6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flexible</a:t>
            </a:r>
            <a:r>
              <a:rPr sz="6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and </a:t>
            </a:r>
            <a:r>
              <a:rPr lang="en-IN" sz="6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extensible</a:t>
            </a:r>
            <a:endParaRPr sz="600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Subtitle-4-2">
            <a:extLst>
              <a:ext uri="{FF2B5EF4-FFF2-40B4-BE49-F238E27FC236}">
                <a16:creationId xmlns:a16="http://schemas.microsoft.com/office/drawing/2014/main" id="{983EFF48-D197-4AC1-BE98-59E2976DEBC9}"/>
              </a:ext>
            </a:extLst>
          </p:cNvPr>
          <p:cNvSpPr>
            <a:spLocks noGrp="1"/>
          </p:cNvSpPr>
          <p:nvPr/>
        </p:nvSpPr>
        <p:spPr>
          <a:xfrm>
            <a:off x="393668" y="4973288"/>
            <a:ext cx="3568732" cy="108023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Predictable offline setup</a:t>
            </a:r>
          </a:p>
          <a:p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Explicit lifecycle ownership</a:t>
            </a:r>
          </a:p>
          <a:p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Safe, budgeted streaming</a:t>
            </a:r>
          </a:p>
        </p:txBody>
      </p:sp>
      <p:sp>
        <p:nvSpPr>
          <p:cNvPr id="3" name="Subtitle-4-3">
            <a:extLst>
              <a:ext uri="{FF2B5EF4-FFF2-40B4-BE49-F238E27FC236}">
                <a16:creationId xmlns:a16="http://schemas.microsoft.com/office/drawing/2014/main" id="{1A469587-63C5-4216-AA0D-501D31D291D8}"/>
              </a:ext>
            </a:extLst>
          </p:cNvPr>
          <p:cNvSpPr>
            <a:spLocks noGrp="1"/>
          </p:cNvSpPr>
          <p:nvPr/>
        </p:nvSpPr>
        <p:spPr>
          <a:xfrm>
            <a:off x="393668" y="392240"/>
            <a:ext cx="1612868" cy="64912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11478612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</Words>
  <Application>Microsoft Office PowerPoint</Application>
  <DocSecurity>0</DocSecurity>
  <PresentationFormat>Widescreen</PresentationFormat>
  <Paragraphs>59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Roshan Singh</cp:lastModifiedBy>
  <cp:revision>1</cp:revision>
  <dcterms:created xsi:type="dcterms:W3CDTF">2026-08-06T15:15:37Z</dcterms:created>
  <dcterms:modified xsi:type="dcterms:W3CDTF">2026-08-06T15:18:56Z</dcterms:modified>
</cp:coreProperties>
</file>